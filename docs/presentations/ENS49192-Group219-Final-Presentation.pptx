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8288000" cy="10287000"/>
  <p:notesSz cx="6858000" cy="9144000"/>
  <p:embeddedFontLst>
    <p:embeddedFont>
      <p:font typeface="Canva Sans" panose="020B0503030501040103" pitchFamily="34" charset="0"/>
      <p:regular r:id="rId29"/>
    </p:embeddedFont>
    <p:embeddedFont>
      <p:font typeface="Canva Sans Bold" panose="020B0803030501040103" pitchFamily="34" charset="0"/>
      <p:regular r:id="rId30"/>
      <p:bold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618" autoAdjust="0"/>
  </p:normalViewPr>
  <p:slideViewPr>
    <p:cSldViewPr>
      <p:cViewPr varScale="1">
        <p:scale>
          <a:sx n="69" d="100"/>
          <a:sy n="69" d="100"/>
        </p:scale>
        <p:origin x="824" y="2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7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23652" y="683475"/>
            <a:ext cx="16859746" cy="8920050"/>
            <a:chOff x="0" y="0"/>
            <a:chExt cx="4440427" cy="23493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40427" cy="2349314"/>
            </a:xfrm>
            <a:custGeom>
              <a:avLst/>
              <a:gdLst/>
              <a:ahLst/>
              <a:cxnLst/>
              <a:rect l="l" t="t" r="r" b="b"/>
              <a:pathLst>
                <a:path w="4440427" h="2349314">
                  <a:moveTo>
                    <a:pt x="15613" y="0"/>
                  </a:moveTo>
                  <a:lnTo>
                    <a:pt x="4424814" y="0"/>
                  </a:lnTo>
                  <a:cubicBezTo>
                    <a:pt x="4428955" y="0"/>
                    <a:pt x="4432926" y="1645"/>
                    <a:pt x="4435854" y="4573"/>
                  </a:cubicBezTo>
                  <a:cubicBezTo>
                    <a:pt x="4438782" y="7501"/>
                    <a:pt x="4440427" y="11472"/>
                    <a:pt x="4440427" y="15613"/>
                  </a:cubicBezTo>
                  <a:lnTo>
                    <a:pt x="4440427" y="2333701"/>
                  </a:lnTo>
                  <a:cubicBezTo>
                    <a:pt x="4440427" y="2337842"/>
                    <a:pt x="4438782" y="2341813"/>
                    <a:pt x="4435854" y="2344741"/>
                  </a:cubicBezTo>
                  <a:cubicBezTo>
                    <a:pt x="4432926" y="2347669"/>
                    <a:pt x="4428955" y="2349314"/>
                    <a:pt x="4424814" y="2349314"/>
                  </a:cubicBezTo>
                  <a:lnTo>
                    <a:pt x="15613" y="2349314"/>
                  </a:lnTo>
                  <a:cubicBezTo>
                    <a:pt x="11472" y="2349314"/>
                    <a:pt x="7501" y="2347669"/>
                    <a:pt x="4573" y="2344741"/>
                  </a:cubicBezTo>
                  <a:cubicBezTo>
                    <a:pt x="1645" y="2341813"/>
                    <a:pt x="0" y="2337842"/>
                    <a:pt x="0" y="2333701"/>
                  </a:cubicBezTo>
                  <a:lnTo>
                    <a:pt x="0" y="15613"/>
                  </a:lnTo>
                  <a:cubicBezTo>
                    <a:pt x="0" y="11472"/>
                    <a:pt x="1645" y="7501"/>
                    <a:pt x="4573" y="4573"/>
                  </a:cubicBezTo>
                  <a:cubicBezTo>
                    <a:pt x="7501" y="1645"/>
                    <a:pt x="11472" y="0"/>
                    <a:pt x="15613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T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440427" cy="23874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400243" y="1162050"/>
            <a:ext cx="15487514" cy="6187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64"/>
              </a:lnSpc>
            </a:pPr>
            <a:r>
              <a:rPr lang="en-US" sz="56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ENS 491/92</a:t>
            </a:r>
          </a:p>
          <a:p>
            <a:pPr algn="ctr">
              <a:lnSpc>
                <a:spcPts val="5264"/>
              </a:lnSpc>
            </a:pPr>
            <a:r>
              <a:rPr lang="en-US" sz="56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Final Presentation</a:t>
            </a:r>
          </a:p>
          <a:p>
            <a:pPr algn="ctr">
              <a:lnSpc>
                <a:spcPts val="7520"/>
              </a:lnSpc>
            </a:pPr>
            <a:endParaRPr lang="en-US" sz="5600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ctr">
              <a:lnSpc>
                <a:spcPts val="7520"/>
              </a:lnSpc>
            </a:pPr>
            <a:r>
              <a:rPr lang="en-US" sz="8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Implementing Deep Neural Networks (DNNs) Using GPU’s</a:t>
            </a:r>
          </a:p>
          <a:p>
            <a:pPr algn="ctr">
              <a:lnSpc>
                <a:spcPts val="7520"/>
              </a:lnSpc>
            </a:pPr>
            <a:endParaRPr lang="en-US" sz="8000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ctr">
              <a:lnSpc>
                <a:spcPts val="7520"/>
              </a:lnSpc>
            </a:pPr>
            <a:endParaRPr lang="en-US" sz="8000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6730364"/>
            <a:ext cx="16230600" cy="2527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Group 219</a:t>
            </a:r>
          </a:p>
          <a:p>
            <a:pPr algn="ctr">
              <a:lnSpc>
                <a:spcPts val="5039"/>
              </a:lnSpc>
            </a:pPr>
            <a:r>
              <a:rPr lang="en-US" sz="35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Ada Boran Yılmaz (30789)</a:t>
            </a:r>
          </a:p>
          <a:p>
            <a:pPr algn="ctr">
              <a:lnSpc>
                <a:spcPts val="5039"/>
              </a:lnSpc>
            </a:pPr>
            <a:r>
              <a:rPr lang="en-US" sz="35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Enes Çağlar (31109)</a:t>
            </a:r>
          </a:p>
          <a:p>
            <a:pPr algn="ctr">
              <a:lnSpc>
                <a:spcPts val="5039"/>
              </a:lnSpc>
            </a:pPr>
            <a:endParaRPr lang="en-US" sz="359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7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14127" y="683475"/>
            <a:ext cx="16859746" cy="8920050"/>
            <a:chOff x="0" y="0"/>
            <a:chExt cx="4440427" cy="23493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40427" cy="2349314"/>
            </a:xfrm>
            <a:custGeom>
              <a:avLst/>
              <a:gdLst/>
              <a:ahLst/>
              <a:cxnLst/>
              <a:rect l="l" t="t" r="r" b="b"/>
              <a:pathLst>
                <a:path w="4440427" h="2349314">
                  <a:moveTo>
                    <a:pt x="15613" y="0"/>
                  </a:moveTo>
                  <a:lnTo>
                    <a:pt x="4424814" y="0"/>
                  </a:lnTo>
                  <a:cubicBezTo>
                    <a:pt x="4428955" y="0"/>
                    <a:pt x="4432926" y="1645"/>
                    <a:pt x="4435854" y="4573"/>
                  </a:cubicBezTo>
                  <a:cubicBezTo>
                    <a:pt x="4438782" y="7501"/>
                    <a:pt x="4440427" y="11472"/>
                    <a:pt x="4440427" y="15613"/>
                  </a:cubicBezTo>
                  <a:lnTo>
                    <a:pt x="4440427" y="2333701"/>
                  </a:lnTo>
                  <a:cubicBezTo>
                    <a:pt x="4440427" y="2337842"/>
                    <a:pt x="4438782" y="2341813"/>
                    <a:pt x="4435854" y="2344741"/>
                  </a:cubicBezTo>
                  <a:cubicBezTo>
                    <a:pt x="4432926" y="2347669"/>
                    <a:pt x="4428955" y="2349314"/>
                    <a:pt x="4424814" y="2349314"/>
                  </a:cubicBezTo>
                  <a:lnTo>
                    <a:pt x="15613" y="2349314"/>
                  </a:lnTo>
                  <a:cubicBezTo>
                    <a:pt x="11472" y="2349314"/>
                    <a:pt x="7501" y="2347669"/>
                    <a:pt x="4573" y="2344741"/>
                  </a:cubicBezTo>
                  <a:cubicBezTo>
                    <a:pt x="1645" y="2341813"/>
                    <a:pt x="0" y="2337842"/>
                    <a:pt x="0" y="2333701"/>
                  </a:cubicBezTo>
                  <a:lnTo>
                    <a:pt x="0" y="15613"/>
                  </a:lnTo>
                  <a:cubicBezTo>
                    <a:pt x="0" y="11472"/>
                    <a:pt x="1645" y="7501"/>
                    <a:pt x="4573" y="4573"/>
                  </a:cubicBezTo>
                  <a:cubicBezTo>
                    <a:pt x="7501" y="1645"/>
                    <a:pt x="11472" y="0"/>
                    <a:pt x="15613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T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440427" cy="23874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4150938"/>
            <a:ext cx="16230600" cy="1016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20"/>
              </a:lnSpc>
            </a:pPr>
            <a:r>
              <a:rPr lang="en-US" sz="8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ENS 491 Design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54766" y="2753042"/>
            <a:ext cx="17556696" cy="4780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Deep Learning Paradigms: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Explored the distinctions between Artificial Intelligence, Machine Learning, and Deep Learning algorithms designed to mimic human brain functions.</a:t>
            </a:r>
          </a:p>
          <a:p>
            <a:pPr algn="l">
              <a:lnSpc>
                <a:spcPts val="4759"/>
              </a:lnSpc>
            </a:pPr>
            <a:endParaRPr lang="en-US" sz="3399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Historical Evolution: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Analyzed the rise of Deep Learning since 1952, driven by the emergence of Big Data (ImageNet) and parallelizable GPU hardware.</a:t>
            </a:r>
          </a:p>
          <a:p>
            <a:pPr algn="l">
              <a:lnSpc>
                <a:spcPts val="4759"/>
              </a:lnSpc>
            </a:pPr>
            <a:endParaRPr lang="en-US" sz="3399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759"/>
              </a:lnSpc>
            </a:pPr>
            <a:endParaRPr lang="en-US" sz="3399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4804330" y="6763478"/>
            <a:ext cx="6887843" cy="2875674"/>
          </a:xfrm>
          <a:custGeom>
            <a:avLst/>
            <a:gdLst/>
            <a:ahLst/>
            <a:cxnLst/>
            <a:rect l="l" t="t" r="r" b="b"/>
            <a:pathLst>
              <a:path w="6887843" h="2875674">
                <a:moveTo>
                  <a:pt x="0" y="0"/>
                </a:moveTo>
                <a:lnTo>
                  <a:pt x="6887843" y="0"/>
                </a:lnTo>
                <a:lnTo>
                  <a:pt x="6887843" y="2875674"/>
                </a:lnTo>
                <a:lnTo>
                  <a:pt x="0" y="28756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4" name="Freeform 4"/>
          <p:cNvSpPr/>
          <p:nvPr/>
        </p:nvSpPr>
        <p:spPr>
          <a:xfrm>
            <a:off x="0" y="6839622"/>
            <a:ext cx="4621504" cy="2723386"/>
          </a:xfrm>
          <a:custGeom>
            <a:avLst/>
            <a:gdLst/>
            <a:ahLst/>
            <a:cxnLst/>
            <a:rect l="l" t="t" r="r" b="b"/>
            <a:pathLst>
              <a:path w="4621504" h="2723386">
                <a:moveTo>
                  <a:pt x="0" y="0"/>
                </a:moveTo>
                <a:lnTo>
                  <a:pt x="4621504" y="0"/>
                </a:lnTo>
                <a:lnTo>
                  <a:pt x="4621504" y="2723386"/>
                </a:lnTo>
                <a:lnTo>
                  <a:pt x="0" y="2723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5" name="Freeform 5"/>
          <p:cNvSpPr/>
          <p:nvPr/>
        </p:nvSpPr>
        <p:spPr>
          <a:xfrm>
            <a:off x="11874999" y="6839622"/>
            <a:ext cx="6047349" cy="2628750"/>
          </a:xfrm>
          <a:custGeom>
            <a:avLst/>
            <a:gdLst/>
            <a:ahLst/>
            <a:cxnLst/>
            <a:rect l="l" t="t" r="r" b="b"/>
            <a:pathLst>
              <a:path w="6047349" h="2628750">
                <a:moveTo>
                  <a:pt x="0" y="0"/>
                </a:moveTo>
                <a:lnTo>
                  <a:pt x="6047349" y="0"/>
                </a:lnTo>
                <a:lnTo>
                  <a:pt x="6047349" y="2628750"/>
                </a:lnTo>
                <a:lnTo>
                  <a:pt x="0" y="2628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479" b="-2479"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6" name="TextBox 6"/>
          <p:cNvSpPr txBox="1"/>
          <p:nvPr/>
        </p:nvSpPr>
        <p:spPr>
          <a:xfrm>
            <a:off x="653839" y="537527"/>
            <a:ext cx="16980322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Theoretical Research &amp; Deep Learning Fundamentals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54546" y="6508435"/>
            <a:ext cx="5430867" cy="3061651"/>
          </a:xfrm>
          <a:custGeom>
            <a:avLst/>
            <a:gdLst/>
            <a:ahLst/>
            <a:cxnLst/>
            <a:rect l="l" t="t" r="r" b="b"/>
            <a:pathLst>
              <a:path w="5430867" h="3061651">
                <a:moveTo>
                  <a:pt x="0" y="0"/>
                </a:moveTo>
                <a:lnTo>
                  <a:pt x="5430866" y="0"/>
                </a:lnTo>
                <a:lnTo>
                  <a:pt x="5430866" y="3061651"/>
                </a:lnTo>
                <a:lnTo>
                  <a:pt x="0" y="3061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3" name="Freeform 3"/>
          <p:cNvSpPr/>
          <p:nvPr/>
        </p:nvSpPr>
        <p:spPr>
          <a:xfrm>
            <a:off x="12220159" y="6496273"/>
            <a:ext cx="5854881" cy="3073812"/>
          </a:xfrm>
          <a:custGeom>
            <a:avLst/>
            <a:gdLst/>
            <a:ahLst/>
            <a:cxnLst/>
            <a:rect l="l" t="t" r="r" b="b"/>
            <a:pathLst>
              <a:path w="5854881" h="3073812">
                <a:moveTo>
                  <a:pt x="0" y="0"/>
                </a:moveTo>
                <a:lnTo>
                  <a:pt x="5854881" y="0"/>
                </a:lnTo>
                <a:lnTo>
                  <a:pt x="5854881" y="3073813"/>
                </a:lnTo>
                <a:lnTo>
                  <a:pt x="0" y="30738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4" name="Freeform 4"/>
          <p:cNvSpPr/>
          <p:nvPr/>
        </p:nvSpPr>
        <p:spPr>
          <a:xfrm>
            <a:off x="5610631" y="6921602"/>
            <a:ext cx="6459716" cy="2648483"/>
          </a:xfrm>
          <a:custGeom>
            <a:avLst/>
            <a:gdLst/>
            <a:ahLst/>
            <a:cxnLst/>
            <a:rect l="l" t="t" r="r" b="b"/>
            <a:pathLst>
              <a:path w="6459716" h="2648483">
                <a:moveTo>
                  <a:pt x="0" y="0"/>
                </a:moveTo>
                <a:lnTo>
                  <a:pt x="6459716" y="0"/>
                </a:lnTo>
                <a:lnTo>
                  <a:pt x="6459716" y="2648484"/>
                </a:lnTo>
                <a:lnTo>
                  <a:pt x="0" y="26484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5" name="TextBox 5"/>
          <p:cNvSpPr txBox="1"/>
          <p:nvPr/>
        </p:nvSpPr>
        <p:spPr>
          <a:xfrm>
            <a:off x="841270" y="396791"/>
            <a:ext cx="16605461" cy="5793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Core Components: </a:t>
            </a:r>
            <a:r>
              <a:rPr lang="en-US" sz="3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Researched neural network essentials including Activation Functions (Sigmoid, Tanh, ReLU), Backpropagation, and Gradient Descent optimization.</a:t>
            </a:r>
          </a:p>
          <a:p>
            <a:pPr algn="l">
              <a:lnSpc>
                <a:spcPts val="4620"/>
              </a:lnSpc>
            </a:pPr>
            <a:endParaRPr lang="en-US" sz="33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Benchmarking Datasets: </a:t>
            </a:r>
            <a:r>
              <a:rPr lang="en-US" sz="3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Evaluated performance metrics using standard datasets such as ImageNet (14M images) and Tiny ImageNet (100,000 images).</a:t>
            </a:r>
          </a:p>
          <a:p>
            <a:pPr algn="l">
              <a:lnSpc>
                <a:spcPts val="4620"/>
              </a:lnSpc>
            </a:pPr>
            <a:endParaRPr lang="en-US" sz="33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Overfitting Strategies: </a:t>
            </a:r>
            <a:r>
              <a:rPr lang="en-US" sz="3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Investigated techniques to improve model generalization, such as Dropout, Data Augmentation, and Early Stopping.</a:t>
            </a:r>
          </a:p>
          <a:p>
            <a:pPr algn="l">
              <a:lnSpc>
                <a:spcPts val="4620"/>
              </a:lnSpc>
            </a:pPr>
            <a:endParaRPr lang="en-US" sz="33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52040" y="6194282"/>
            <a:ext cx="7158474" cy="3489756"/>
          </a:xfrm>
          <a:custGeom>
            <a:avLst/>
            <a:gdLst/>
            <a:ahLst/>
            <a:cxnLst/>
            <a:rect l="l" t="t" r="r" b="b"/>
            <a:pathLst>
              <a:path w="7158474" h="3489756">
                <a:moveTo>
                  <a:pt x="0" y="0"/>
                </a:moveTo>
                <a:lnTo>
                  <a:pt x="7158475" y="0"/>
                </a:lnTo>
                <a:lnTo>
                  <a:pt x="7158475" y="3489756"/>
                </a:lnTo>
                <a:lnTo>
                  <a:pt x="0" y="34897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3" name="Freeform 3"/>
          <p:cNvSpPr/>
          <p:nvPr/>
        </p:nvSpPr>
        <p:spPr>
          <a:xfrm>
            <a:off x="9712179" y="5768544"/>
            <a:ext cx="7547121" cy="4141483"/>
          </a:xfrm>
          <a:custGeom>
            <a:avLst/>
            <a:gdLst/>
            <a:ahLst/>
            <a:cxnLst/>
            <a:rect l="l" t="t" r="r" b="b"/>
            <a:pathLst>
              <a:path w="7547121" h="4141483">
                <a:moveTo>
                  <a:pt x="0" y="0"/>
                </a:moveTo>
                <a:lnTo>
                  <a:pt x="7547121" y="0"/>
                </a:lnTo>
                <a:lnTo>
                  <a:pt x="7547121" y="4141482"/>
                </a:lnTo>
                <a:lnTo>
                  <a:pt x="0" y="41414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4" name="TextBox 4"/>
          <p:cNvSpPr txBox="1"/>
          <p:nvPr/>
        </p:nvSpPr>
        <p:spPr>
          <a:xfrm>
            <a:off x="453042" y="2204108"/>
            <a:ext cx="17381916" cy="3580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CUDA Architecture: 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Investigated GPU-accelerated computing using Compute Unified Device Architecture (CUDA) to facilitate massively parallel workloads.</a:t>
            </a:r>
          </a:p>
          <a:p>
            <a:pPr algn="l">
              <a:lnSpc>
                <a:spcPts val="4759"/>
              </a:lnSpc>
            </a:pPr>
            <a:endParaRPr lang="en-US" sz="3399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Heterogeneous Computing: 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Researched models to balance low-latency CPU processing with the high throughput capabilities of GPUs.</a:t>
            </a:r>
          </a:p>
          <a:p>
            <a:pPr algn="l">
              <a:lnSpc>
                <a:spcPts val="4759"/>
              </a:lnSpc>
            </a:pPr>
            <a:endParaRPr lang="en-US" sz="3399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905000" y="602962"/>
            <a:ext cx="14758690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Technical Research &amp; Hardware Optimization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5527" y="254167"/>
            <a:ext cx="17356947" cy="6374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Lightweight Architectures: </a:t>
            </a:r>
            <a:r>
              <a:rPr lang="en-US" sz="3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Analyzed the MobileNet family (V1, V2, and V3) and EfficientNet-B0, focusing on depthwise separable convolutions to reduce parameters for edge device efficiency.</a:t>
            </a:r>
          </a:p>
          <a:p>
            <a:pPr algn="l">
              <a:lnSpc>
                <a:spcPts val="4620"/>
              </a:lnSpc>
            </a:pPr>
            <a:endParaRPr lang="en-US" sz="33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Performance Benchmarking: </a:t>
            </a:r>
            <a:r>
              <a:rPr lang="en-US" sz="3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Conducted initial CPU-based inference tests comparing throughput (images/sec) across different multithreading configurations.</a:t>
            </a:r>
          </a:p>
          <a:p>
            <a:pPr algn="l">
              <a:lnSpc>
                <a:spcPts val="4620"/>
              </a:lnSpc>
            </a:pPr>
            <a:endParaRPr lang="en-US" sz="33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GPU Memory Management:</a:t>
            </a:r>
            <a:r>
              <a:rPr lang="en-US" sz="3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Studied CUDA memory hierarchy, including global, shared, and register memory to optimize data transfer and kernel execution.</a:t>
            </a:r>
          </a:p>
          <a:p>
            <a:pPr algn="l">
              <a:lnSpc>
                <a:spcPts val="4620"/>
              </a:lnSpc>
            </a:pPr>
            <a:endParaRPr lang="en-US" sz="33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6486257" y="6628297"/>
            <a:ext cx="5764922" cy="3458953"/>
          </a:xfrm>
          <a:custGeom>
            <a:avLst/>
            <a:gdLst/>
            <a:ahLst/>
            <a:cxnLst/>
            <a:rect l="l" t="t" r="r" b="b"/>
            <a:pathLst>
              <a:path w="5764922" h="3458953">
                <a:moveTo>
                  <a:pt x="0" y="0"/>
                </a:moveTo>
                <a:lnTo>
                  <a:pt x="5764922" y="0"/>
                </a:lnTo>
                <a:lnTo>
                  <a:pt x="5764922" y="3458954"/>
                </a:lnTo>
                <a:lnTo>
                  <a:pt x="0" y="34589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4" name="Freeform 4"/>
          <p:cNvSpPr/>
          <p:nvPr/>
        </p:nvSpPr>
        <p:spPr>
          <a:xfrm>
            <a:off x="0" y="7174032"/>
            <a:ext cx="6486257" cy="2367484"/>
          </a:xfrm>
          <a:custGeom>
            <a:avLst/>
            <a:gdLst/>
            <a:ahLst/>
            <a:cxnLst/>
            <a:rect l="l" t="t" r="r" b="b"/>
            <a:pathLst>
              <a:path w="6486257" h="2367484">
                <a:moveTo>
                  <a:pt x="0" y="0"/>
                </a:moveTo>
                <a:lnTo>
                  <a:pt x="6486257" y="0"/>
                </a:lnTo>
                <a:lnTo>
                  <a:pt x="6486257" y="2367484"/>
                </a:lnTo>
                <a:lnTo>
                  <a:pt x="0" y="23674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5" name="Freeform 5"/>
          <p:cNvSpPr/>
          <p:nvPr/>
        </p:nvSpPr>
        <p:spPr>
          <a:xfrm>
            <a:off x="12744777" y="6441261"/>
            <a:ext cx="4844100" cy="3833026"/>
          </a:xfrm>
          <a:custGeom>
            <a:avLst/>
            <a:gdLst/>
            <a:ahLst/>
            <a:cxnLst/>
            <a:rect l="l" t="t" r="r" b="b"/>
            <a:pathLst>
              <a:path w="4844100" h="3833026">
                <a:moveTo>
                  <a:pt x="0" y="0"/>
                </a:moveTo>
                <a:lnTo>
                  <a:pt x="4844100" y="0"/>
                </a:lnTo>
                <a:lnTo>
                  <a:pt x="4844100" y="3833026"/>
                </a:lnTo>
                <a:lnTo>
                  <a:pt x="0" y="38330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7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14127" y="683475"/>
            <a:ext cx="16859746" cy="8920050"/>
            <a:chOff x="0" y="0"/>
            <a:chExt cx="4440427" cy="23493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40427" cy="2349314"/>
            </a:xfrm>
            <a:custGeom>
              <a:avLst/>
              <a:gdLst/>
              <a:ahLst/>
              <a:cxnLst/>
              <a:rect l="l" t="t" r="r" b="b"/>
              <a:pathLst>
                <a:path w="4440427" h="2349314">
                  <a:moveTo>
                    <a:pt x="15613" y="0"/>
                  </a:moveTo>
                  <a:lnTo>
                    <a:pt x="4424814" y="0"/>
                  </a:lnTo>
                  <a:cubicBezTo>
                    <a:pt x="4428955" y="0"/>
                    <a:pt x="4432926" y="1645"/>
                    <a:pt x="4435854" y="4573"/>
                  </a:cubicBezTo>
                  <a:cubicBezTo>
                    <a:pt x="4438782" y="7501"/>
                    <a:pt x="4440427" y="11472"/>
                    <a:pt x="4440427" y="15613"/>
                  </a:cubicBezTo>
                  <a:lnTo>
                    <a:pt x="4440427" y="2333701"/>
                  </a:lnTo>
                  <a:cubicBezTo>
                    <a:pt x="4440427" y="2337842"/>
                    <a:pt x="4438782" y="2341813"/>
                    <a:pt x="4435854" y="2344741"/>
                  </a:cubicBezTo>
                  <a:cubicBezTo>
                    <a:pt x="4432926" y="2347669"/>
                    <a:pt x="4428955" y="2349314"/>
                    <a:pt x="4424814" y="2349314"/>
                  </a:cubicBezTo>
                  <a:lnTo>
                    <a:pt x="15613" y="2349314"/>
                  </a:lnTo>
                  <a:cubicBezTo>
                    <a:pt x="11472" y="2349314"/>
                    <a:pt x="7501" y="2347669"/>
                    <a:pt x="4573" y="2344741"/>
                  </a:cubicBezTo>
                  <a:cubicBezTo>
                    <a:pt x="1645" y="2341813"/>
                    <a:pt x="0" y="2337842"/>
                    <a:pt x="0" y="2333701"/>
                  </a:cubicBezTo>
                  <a:lnTo>
                    <a:pt x="0" y="15613"/>
                  </a:lnTo>
                  <a:cubicBezTo>
                    <a:pt x="0" y="11472"/>
                    <a:pt x="1645" y="7501"/>
                    <a:pt x="4573" y="4573"/>
                  </a:cubicBezTo>
                  <a:cubicBezTo>
                    <a:pt x="7501" y="1645"/>
                    <a:pt x="11472" y="0"/>
                    <a:pt x="15613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T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440427" cy="23874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4258945"/>
            <a:ext cx="16230600" cy="1969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20"/>
              </a:lnSpc>
            </a:pPr>
            <a:r>
              <a:rPr lang="en-US" sz="8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ENS 492 Implementation: MobileNet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776" y="1638300"/>
            <a:ext cx="18288000" cy="6581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Infrastructure: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Utilized the Turkish National Science e-Infrastructure (TRUBA) for large-scale training and inference.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HPC Environments: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Configured workloads across different node types (Arf, </a:t>
            </a:r>
            <a:r>
              <a:rPr lang="en-US" sz="33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Orfoz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Hamsi) with varying GPU and memory configurations.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Job Management: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Implemented </a:t>
            </a:r>
            <a:r>
              <a:rPr lang="en-US" sz="33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sbatch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scripts for automated scheduling and resource allocation on SLURM clusters.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Storage Optimization: 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Leveraged the WEKA high-performance file system (/arf) to minimize I/O bottlenecks during data-intensive tasks.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Resource Scaling: 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Tested performance across multi-CPU and GPU configurations to determine the optimal compute balance.</a:t>
            </a:r>
          </a:p>
          <a:p>
            <a:pPr algn="l">
              <a:lnSpc>
                <a:spcPts val="4759"/>
              </a:lnSpc>
            </a:pPr>
            <a:endParaRPr lang="en-US" sz="3399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6905979" y="8006909"/>
            <a:ext cx="4476041" cy="2195794"/>
          </a:xfrm>
          <a:custGeom>
            <a:avLst/>
            <a:gdLst/>
            <a:ahLst/>
            <a:cxnLst/>
            <a:rect l="l" t="t" r="r" b="b"/>
            <a:pathLst>
              <a:path w="4476041" h="2195794">
                <a:moveTo>
                  <a:pt x="0" y="0"/>
                </a:moveTo>
                <a:lnTo>
                  <a:pt x="4476042" y="0"/>
                </a:lnTo>
                <a:lnTo>
                  <a:pt x="4476042" y="2195793"/>
                </a:lnTo>
                <a:lnTo>
                  <a:pt x="0" y="21957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4" name="TextBox 4"/>
          <p:cNvSpPr txBox="1"/>
          <p:nvPr/>
        </p:nvSpPr>
        <p:spPr>
          <a:xfrm>
            <a:off x="2332619" y="495300"/>
            <a:ext cx="13622759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High-Performance Computing on TRUBA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99123" y="1478663"/>
            <a:ext cx="16889754" cy="5981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Computational Factorization: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Analyzed the shift from standard convolutions to Depthwise Separable Convolutions to reduce Mult-Adds.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Mathematical Modeling: 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Calculated the theoretical speedup by comparing the costs of standard vs. separable operations.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Standard Benchmarking: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Evaluated MobileNet against popular architectures like GoogleNet and VGG16 in terms of parameter counts and ImageNet accuracy.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Resolution Multipliers: 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Investigated the impact of varying input resolutions (e.g., 224 to 128) on total GFLOPs.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699123" y="7630886"/>
            <a:ext cx="9177647" cy="2420604"/>
          </a:xfrm>
          <a:custGeom>
            <a:avLst/>
            <a:gdLst/>
            <a:ahLst/>
            <a:cxnLst/>
            <a:rect l="l" t="t" r="r" b="b"/>
            <a:pathLst>
              <a:path w="9177647" h="2420604">
                <a:moveTo>
                  <a:pt x="0" y="0"/>
                </a:moveTo>
                <a:lnTo>
                  <a:pt x="9177647" y="0"/>
                </a:lnTo>
                <a:lnTo>
                  <a:pt x="9177647" y="2420604"/>
                </a:lnTo>
                <a:lnTo>
                  <a:pt x="0" y="24206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4" name="Freeform 4"/>
          <p:cNvSpPr/>
          <p:nvPr/>
        </p:nvSpPr>
        <p:spPr>
          <a:xfrm>
            <a:off x="11144597" y="6559863"/>
            <a:ext cx="5229138" cy="3491627"/>
          </a:xfrm>
          <a:custGeom>
            <a:avLst/>
            <a:gdLst/>
            <a:ahLst/>
            <a:cxnLst/>
            <a:rect l="l" t="t" r="r" b="b"/>
            <a:pathLst>
              <a:path w="5229138" h="3491627">
                <a:moveTo>
                  <a:pt x="0" y="0"/>
                </a:moveTo>
                <a:lnTo>
                  <a:pt x="5229138" y="0"/>
                </a:lnTo>
                <a:lnTo>
                  <a:pt x="5229138" y="3491627"/>
                </a:lnTo>
                <a:lnTo>
                  <a:pt x="0" y="34916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715"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5" name="TextBox 5"/>
          <p:cNvSpPr txBox="1"/>
          <p:nvPr/>
        </p:nvSpPr>
        <p:spPr>
          <a:xfrm>
            <a:off x="1143000" y="351904"/>
            <a:ext cx="16002000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MobileNet</a:t>
            </a:r>
            <a:r>
              <a:rPr lang="en-US" sz="51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Architecture &amp; Efficiency Analysis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7148" y="1328851"/>
            <a:ext cx="17733705" cy="5380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Bottleneck Architecture: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Implemented the "Expand-Conv-Squeeze" structure with Linear Bottlenecks to preserve information in low dimensions.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Shortcut Connections: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Integrated residual links between narrow layers to facilitate gradient flow and improve training stability.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Deployment Mapping: 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Mapped the architectural structure to custom tensor formats for later migration to low-level languages.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Inference Logic: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Defined the forward pass logic, ensuring proper handling of stride-2 blocks for spatial downsampling.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2138390" y="6414625"/>
            <a:ext cx="7165375" cy="3672255"/>
          </a:xfrm>
          <a:custGeom>
            <a:avLst/>
            <a:gdLst/>
            <a:ahLst/>
            <a:cxnLst/>
            <a:rect l="l" t="t" r="r" b="b"/>
            <a:pathLst>
              <a:path w="7165375" h="3672255">
                <a:moveTo>
                  <a:pt x="0" y="0"/>
                </a:moveTo>
                <a:lnTo>
                  <a:pt x="7165374" y="0"/>
                </a:lnTo>
                <a:lnTo>
                  <a:pt x="7165374" y="3672255"/>
                </a:lnTo>
                <a:lnTo>
                  <a:pt x="0" y="36722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4" name="Freeform 4"/>
          <p:cNvSpPr/>
          <p:nvPr/>
        </p:nvSpPr>
        <p:spPr>
          <a:xfrm>
            <a:off x="9665523" y="6578231"/>
            <a:ext cx="6869685" cy="3345043"/>
          </a:xfrm>
          <a:custGeom>
            <a:avLst/>
            <a:gdLst/>
            <a:ahLst/>
            <a:cxnLst/>
            <a:rect l="l" t="t" r="r" b="b"/>
            <a:pathLst>
              <a:path w="6869685" h="3345043">
                <a:moveTo>
                  <a:pt x="0" y="0"/>
                </a:moveTo>
                <a:lnTo>
                  <a:pt x="6869685" y="0"/>
                </a:lnTo>
                <a:lnTo>
                  <a:pt x="6869685" y="3345043"/>
                </a:lnTo>
                <a:lnTo>
                  <a:pt x="0" y="33450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5" name="TextBox 5"/>
          <p:cNvSpPr txBox="1"/>
          <p:nvPr/>
        </p:nvSpPr>
        <p:spPr>
          <a:xfrm>
            <a:off x="590513" y="363726"/>
            <a:ext cx="17106974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MobileNetV2: Inverted Residuals Implementation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4350" y="1336555"/>
            <a:ext cx="17259300" cy="5380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Manual Inference Engine: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Developed a C++ system for inference to bypass high-level framework overhead.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Tensor Structure: 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Designed a custom 3D Tensor class in C++ to manage Channel, Height, and Width (CHW) data layouts.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Weight Extraction: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Automated the process of extracting pretrained weights from ONNX models into raw binary format for C++ loading.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Validation: 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Verified implementation accuracy by comparing C++ output logits with PyTorch reference results on 50,000 images.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3404213" y="6392044"/>
            <a:ext cx="4488015" cy="3894956"/>
          </a:xfrm>
          <a:custGeom>
            <a:avLst/>
            <a:gdLst/>
            <a:ahLst/>
            <a:cxnLst/>
            <a:rect l="l" t="t" r="r" b="b"/>
            <a:pathLst>
              <a:path w="4488015" h="3894956">
                <a:moveTo>
                  <a:pt x="0" y="0"/>
                </a:moveTo>
                <a:lnTo>
                  <a:pt x="4488015" y="0"/>
                </a:lnTo>
                <a:lnTo>
                  <a:pt x="4488015" y="3894956"/>
                </a:lnTo>
                <a:lnTo>
                  <a:pt x="0" y="38949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4" name="Freeform 4"/>
          <p:cNvSpPr/>
          <p:nvPr/>
        </p:nvSpPr>
        <p:spPr>
          <a:xfrm>
            <a:off x="9571192" y="7245885"/>
            <a:ext cx="5587250" cy="1704871"/>
          </a:xfrm>
          <a:custGeom>
            <a:avLst/>
            <a:gdLst/>
            <a:ahLst/>
            <a:cxnLst/>
            <a:rect l="l" t="t" r="r" b="b"/>
            <a:pathLst>
              <a:path w="5587250" h="1704871">
                <a:moveTo>
                  <a:pt x="0" y="0"/>
                </a:moveTo>
                <a:lnTo>
                  <a:pt x="5587250" y="0"/>
                </a:lnTo>
                <a:lnTo>
                  <a:pt x="5587250" y="1704871"/>
                </a:lnTo>
                <a:lnTo>
                  <a:pt x="0" y="17048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5" name="TextBox 5"/>
          <p:cNvSpPr txBox="1"/>
          <p:nvPr/>
        </p:nvSpPr>
        <p:spPr>
          <a:xfrm>
            <a:off x="1983879" y="185290"/>
            <a:ext cx="14320242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C++ Forward Pipeline &amp; Tensor Design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7077" y="1303882"/>
            <a:ext cx="17613846" cy="5380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Hardware Profiling: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Studied the hierarchy of GPU compute units, including Graphics Processing Clusters (GPCs) and Streaming Multiprocessors (SMs).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Warp Execution: 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Analyzed the impact of warp divergence on kernel performance, specifically for conditional branching in convolutions.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Batch Size Scaling: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Measured the performance of MobileNet across batch sizes ranging from 16 to 1024 to find the GPU saturation point.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Metric Analysis: 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Evaluated average image time (ms) vs. throughput (img/sec) to identify latency-throughput trade-offs.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337077" y="6684872"/>
            <a:ext cx="6043336" cy="3202309"/>
          </a:xfrm>
          <a:custGeom>
            <a:avLst/>
            <a:gdLst/>
            <a:ahLst/>
            <a:cxnLst/>
            <a:rect l="l" t="t" r="r" b="b"/>
            <a:pathLst>
              <a:path w="6043336" h="3202309">
                <a:moveTo>
                  <a:pt x="0" y="0"/>
                </a:moveTo>
                <a:lnTo>
                  <a:pt x="6043336" y="0"/>
                </a:lnTo>
                <a:lnTo>
                  <a:pt x="6043336" y="3202310"/>
                </a:lnTo>
                <a:lnTo>
                  <a:pt x="0" y="3202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2615"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4" name="Freeform 4"/>
          <p:cNvSpPr/>
          <p:nvPr/>
        </p:nvSpPr>
        <p:spPr>
          <a:xfrm>
            <a:off x="6986741" y="6623943"/>
            <a:ext cx="11301259" cy="3263239"/>
          </a:xfrm>
          <a:custGeom>
            <a:avLst/>
            <a:gdLst/>
            <a:ahLst/>
            <a:cxnLst/>
            <a:rect l="l" t="t" r="r" b="b"/>
            <a:pathLst>
              <a:path w="11301259" h="3263239">
                <a:moveTo>
                  <a:pt x="0" y="0"/>
                </a:moveTo>
                <a:lnTo>
                  <a:pt x="11301259" y="0"/>
                </a:lnTo>
                <a:lnTo>
                  <a:pt x="11301259" y="3263239"/>
                </a:lnTo>
                <a:lnTo>
                  <a:pt x="0" y="3263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5" name="TextBox 5"/>
          <p:cNvSpPr txBox="1"/>
          <p:nvPr/>
        </p:nvSpPr>
        <p:spPr>
          <a:xfrm>
            <a:off x="2149729" y="190500"/>
            <a:ext cx="13988542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GPU Architecture &amp; Scaling Benchmarks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04446" y="5459754"/>
            <a:ext cx="6987598" cy="4629283"/>
          </a:xfrm>
          <a:custGeom>
            <a:avLst/>
            <a:gdLst/>
            <a:ahLst/>
            <a:cxnLst/>
            <a:rect l="l" t="t" r="r" b="b"/>
            <a:pathLst>
              <a:path w="6987598" h="4629283">
                <a:moveTo>
                  <a:pt x="0" y="0"/>
                </a:moveTo>
                <a:lnTo>
                  <a:pt x="6987598" y="0"/>
                </a:lnTo>
                <a:lnTo>
                  <a:pt x="6987598" y="4629283"/>
                </a:lnTo>
                <a:lnTo>
                  <a:pt x="0" y="46292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3" name="Freeform 3"/>
          <p:cNvSpPr/>
          <p:nvPr/>
        </p:nvSpPr>
        <p:spPr>
          <a:xfrm>
            <a:off x="8778608" y="6474002"/>
            <a:ext cx="8687671" cy="2291373"/>
          </a:xfrm>
          <a:custGeom>
            <a:avLst/>
            <a:gdLst/>
            <a:ahLst/>
            <a:cxnLst/>
            <a:rect l="l" t="t" r="r" b="b"/>
            <a:pathLst>
              <a:path w="8687671" h="2291373">
                <a:moveTo>
                  <a:pt x="0" y="0"/>
                </a:moveTo>
                <a:lnTo>
                  <a:pt x="8687671" y="0"/>
                </a:lnTo>
                <a:lnTo>
                  <a:pt x="8687671" y="2291373"/>
                </a:lnTo>
                <a:lnTo>
                  <a:pt x="0" y="22913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4" name="TextBox 4"/>
          <p:cNvSpPr txBox="1"/>
          <p:nvPr/>
        </p:nvSpPr>
        <p:spPr>
          <a:xfrm>
            <a:off x="1016328" y="197963"/>
            <a:ext cx="16255343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Cloud Computing Performance (A100 vs. V100)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14350" y="1428726"/>
            <a:ext cx="17259300" cy="4180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High-End GPU Comparison: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Benchmarked inference performance on NVIDIA A100 (Google Colab) vs. V100 (Akya CUDA) architectures.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Mixed Precision: 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Investigated the throughput gains provided by Tensor Cores when operating in FP16 precision.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Inference Frameworks: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Compared standard PyTorch execution against optimized ONNX Runtime and TensorRT workflows on Ampere architecture.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90571" y="6729910"/>
            <a:ext cx="6399541" cy="3027895"/>
          </a:xfrm>
          <a:custGeom>
            <a:avLst/>
            <a:gdLst/>
            <a:ahLst/>
            <a:cxnLst/>
            <a:rect l="l" t="t" r="r" b="b"/>
            <a:pathLst>
              <a:path w="6399541" h="3027895">
                <a:moveTo>
                  <a:pt x="0" y="0"/>
                </a:moveTo>
                <a:lnTo>
                  <a:pt x="6399541" y="0"/>
                </a:lnTo>
                <a:lnTo>
                  <a:pt x="6399541" y="3027895"/>
                </a:lnTo>
                <a:lnTo>
                  <a:pt x="0" y="30278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419"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3" name="Freeform 3"/>
          <p:cNvSpPr/>
          <p:nvPr/>
        </p:nvSpPr>
        <p:spPr>
          <a:xfrm>
            <a:off x="9144000" y="6234610"/>
            <a:ext cx="6909321" cy="3722397"/>
          </a:xfrm>
          <a:custGeom>
            <a:avLst/>
            <a:gdLst/>
            <a:ahLst/>
            <a:cxnLst/>
            <a:rect l="l" t="t" r="r" b="b"/>
            <a:pathLst>
              <a:path w="6909321" h="3722397">
                <a:moveTo>
                  <a:pt x="0" y="0"/>
                </a:moveTo>
                <a:lnTo>
                  <a:pt x="6909321" y="0"/>
                </a:lnTo>
                <a:lnTo>
                  <a:pt x="6909321" y="3722396"/>
                </a:lnTo>
                <a:lnTo>
                  <a:pt x="0" y="37223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4" name="TextBox 4"/>
          <p:cNvSpPr txBox="1"/>
          <p:nvPr/>
        </p:nvSpPr>
        <p:spPr>
          <a:xfrm>
            <a:off x="3152700" y="329993"/>
            <a:ext cx="11982599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TensorRT</a:t>
            </a:r>
            <a:r>
              <a:rPr lang="en-US" sz="51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Optimization Workflow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74656" y="1453694"/>
            <a:ext cx="17738689" cy="4780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Optimization Pipeline: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Established a conversion path from PyTorch → ONNX → TensorRT Engine for production-grade inference.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Layer Fusion: 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Utilized TensorRT’s vertical and horizontal layer fusion to reduce memory bandwidth requirements.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Kernel Auto-tuning: 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Allowed the engine to select the best CUDA kernels for specific GPU architectures (e.g., SM80 for A100).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Performance Gains: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Achieved significant throughput increases over standard GPU inference.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62171" y="1303882"/>
            <a:ext cx="17763658" cy="5380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Custom Depthwise Kernel: 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Developed a specialized FP16 CUDA kernel for 3x3 depthwise convolutions to outperform generic PyTorch kernels.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Design Choices: 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Simplified kernels to support fixed NCHW layouts, removing unnecessary branching to improve thread utilization.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Profiling with Nsight Compute: 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Analyzed compute-bound vs. memory-bound bottlenecks using NVIDIA Nsight tools.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Kernel Fusion: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Investigated the benefits of fusing activation functions (ReLU6) directly into the convolution kernel.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296201" y="6890414"/>
            <a:ext cx="6236216" cy="2367886"/>
          </a:xfrm>
          <a:custGeom>
            <a:avLst/>
            <a:gdLst/>
            <a:ahLst/>
            <a:cxnLst/>
            <a:rect l="l" t="t" r="r" b="b"/>
            <a:pathLst>
              <a:path w="6236216" h="2367886">
                <a:moveTo>
                  <a:pt x="0" y="0"/>
                </a:moveTo>
                <a:lnTo>
                  <a:pt x="6236216" y="0"/>
                </a:lnTo>
                <a:lnTo>
                  <a:pt x="6236216" y="2367886"/>
                </a:lnTo>
                <a:lnTo>
                  <a:pt x="0" y="23678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4" name="Freeform 4"/>
          <p:cNvSpPr/>
          <p:nvPr/>
        </p:nvSpPr>
        <p:spPr>
          <a:xfrm>
            <a:off x="9409528" y="6001524"/>
            <a:ext cx="7125680" cy="3794425"/>
          </a:xfrm>
          <a:custGeom>
            <a:avLst/>
            <a:gdLst/>
            <a:ahLst/>
            <a:cxnLst/>
            <a:rect l="l" t="t" r="r" b="b"/>
            <a:pathLst>
              <a:path w="7125680" h="3794425">
                <a:moveTo>
                  <a:pt x="0" y="0"/>
                </a:moveTo>
                <a:lnTo>
                  <a:pt x="7125680" y="0"/>
                </a:lnTo>
                <a:lnTo>
                  <a:pt x="7125680" y="3794424"/>
                </a:lnTo>
                <a:lnTo>
                  <a:pt x="0" y="37944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5" name="TextBox 5"/>
          <p:cNvSpPr txBox="1"/>
          <p:nvPr/>
        </p:nvSpPr>
        <p:spPr>
          <a:xfrm>
            <a:off x="2090886" y="162599"/>
            <a:ext cx="14106227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Custom CUDA Kernel Design &amp; Profiling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13335" y="1445380"/>
            <a:ext cx="16861331" cy="5380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Cross-Domain Application: 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Applied MobileNet optimization principles to Large Language Models (LLMs) like BERT.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Sequence Length Impact: 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Measured the effect of padding and sequence length (SEQ_LEN) on inference latency.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Backend Comparison: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Tested PyTorch FP16 vs. ONNX Runtime vs. TensorRT for NLP tasks.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Throughput Scaling: 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Demonstrated how TensorRT provides extreme speedups (~11x) for transformer-based architectures.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9144000" y="6826370"/>
            <a:ext cx="7618763" cy="3228451"/>
          </a:xfrm>
          <a:custGeom>
            <a:avLst/>
            <a:gdLst/>
            <a:ahLst/>
            <a:cxnLst/>
            <a:rect l="l" t="t" r="r" b="b"/>
            <a:pathLst>
              <a:path w="7618763" h="3228451">
                <a:moveTo>
                  <a:pt x="0" y="0"/>
                </a:moveTo>
                <a:lnTo>
                  <a:pt x="7618763" y="0"/>
                </a:lnTo>
                <a:lnTo>
                  <a:pt x="7618763" y="3228451"/>
                </a:lnTo>
                <a:lnTo>
                  <a:pt x="0" y="32284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4" name="Freeform 4"/>
          <p:cNvSpPr/>
          <p:nvPr/>
        </p:nvSpPr>
        <p:spPr>
          <a:xfrm>
            <a:off x="2203810" y="6578583"/>
            <a:ext cx="6435432" cy="3708417"/>
          </a:xfrm>
          <a:custGeom>
            <a:avLst/>
            <a:gdLst/>
            <a:ahLst/>
            <a:cxnLst/>
            <a:rect l="l" t="t" r="r" b="b"/>
            <a:pathLst>
              <a:path w="6435432" h="3708417">
                <a:moveTo>
                  <a:pt x="0" y="0"/>
                </a:moveTo>
                <a:lnTo>
                  <a:pt x="6435431" y="0"/>
                </a:lnTo>
                <a:lnTo>
                  <a:pt x="6435431" y="3708417"/>
                </a:lnTo>
                <a:lnTo>
                  <a:pt x="0" y="37084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5" name="TextBox 5"/>
          <p:cNvSpPr txBox="1"/>
          <p:nvPr/>
        </p:nvSpPr>
        <p:spPr>
          <a:xfrm>
            <a:off x="1458572" y="232179"/>
            <a:ext cx="15370856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Large Language Model (BERT) Optimization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13335" y="1388781"/>
            <a:ext cx="16861331" cy="5380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IoT Latency Targets: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Researched real-time vision requirements, targeting &lt;33ms (30 FPS) for end-to-end processing.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Watt-per-Performance: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Evaluated the NVIDIA L4 GPU for edge scenarios where power efficiency is as critical as throughput.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Precision Recommendations: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Concluded that FP16 with TensorRT + Custom Kernels is the optimal configuration for modern IoT gateways.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Use-Case Scenarios: 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Defined deployment sets for real-time single-stream vs. multi-stream edge gateways.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9144000" y="6388493"/>
            <a:ext cx="6487927" cy="3673788"/>
          </a:xfrm>
          <a:custGeom>
            <a:avLst/>
            <a:gdLst/>
            <a:ahLst/>
            <a:cxnLst/>
            <a:rect l="l" t="t" r="r" b="b"/>
            <a:pathLst>
              <a:path w="6487927" h="3673788">
                <a:moveTo>
                  <a:pt x="0" y="0"/>
                </a:moveTo>
                <a:lnTo>
                  <a:pt x="6487927" y="0"/>
                </a:lnTo>
                <a:lnTo>
                  <a:pt x="6487927" y="3673789"/>
                </a:lnTo>
                <a:lnTo>
                  <a:pt x="0" y="36737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4" name="Freeform 4"/>
          <p:cNvSpPr/>
          <p:nvPr/>
        </p:nvSpPr>
        <p:spPr>
          <a:xfrm>
            <a:off x="1932746" y="6545053"/>
            <a:ext cx="6337350" cy="3517229"/>
          </a:xfrm>
          <a:custGeom>
            <a:avLst/>
            <a:gdLst/>
            <a:ahLst/>
            <a:cxnLst/>
            <a:rect l="l" t="t" r="r" b="b"/>
            <a:pathLst>
              <a:path w="6337350" h="3517229">
                <a:moveTo>
                  <a:pt x="0" y="0"/>
                </a:moveTo>
                <a:lnTo>
                  <a:pt x="6337350" y="0"/>
                </a:lnTo>
                <a:lnTo>
                  <a:pt x="6337350" y="3517229"/>
                </a:lnTo>
                <a:lnTo>
                  <a:pt x="0" y="35172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5" name="TextBox 5"/>
          <p:cNvSpPr txBox="1"/>
          <p:nvPr/>
        </p:nvSpPr>
        <p:spPr>
          <a:xfrm>
            <a:off x="1814903" y="224718"/>
            <a:ext cx="14658194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Performance Standards for IoT Deployment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7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14127" y="683475"/>
            <a:ext cx="16859746" cy="8920050"/>
            <a:chOff x="0" y="0"/>
            <a:chExt cx="4440427" cy="23493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40427" cy="2349314"/>
            </a:xfrm>
            <a:custGeom>
              <a:avLst/>
              <a:gdLst/>
              <a:ahLst/>
              <a:cxnLst/>
              <a:rect l="l" t="t" r="r" b="b"/>
              <a:pathLst>
                <a:path w="4440427" h="2349314">
                  <a:moveTo>
                    <a:pt x="15613" y="0"/>
                  </a:moveTo>
                  <a:lnTo>
                    <a:pt x="4424814" y="0"/>
                  </a:lnTo>
                  <a:cubicBezTo>
                    <a:pt x="4428955" y="0"/>
                    <a:pt x="4432926" y="1645"/>
                    <a:pt x="4435854" y="4573"/>
                  </a:cubicBezTo>
                  <a:cubicBezTo>
                    <a:pt x="4438782" y="7501"/>
                    <a:pt x="4440427" y="11472"/>
                    <a:pt x="4440427" y="15613"/>
                  </a:cubicBezTo>
                  <a:lnTo>
                    <a:pt x="4440427" y="2333701"/>
                  </a:lnTo>
                  <a:cubicBezTo>
                    <a:pt x="4440427" y="2337842"/>
                    <a:pt x="4438782" y="2341813"/>
                    <a:pt x="4435854" y="2344741"/>
                  </a:cubicBezTo>
                  <a:cubicBezTo>
                    <a:pt x="4432926" y="2347669"/>
                    <a:pt x="4428955" y="2349314"/>
                    <a:pt x="4424814" y="2349314"/>
                  </a:cubicBezTo>
                  <a:lnTo>
                    <a:pt x="15613" y="2349314"/>
                  </a:lnTo>
                  <a:cubicBezTo>
                    <a:pt x="11472" y="2349314"/>
                    <a:pt x="7501" y="2347669"/>
                    <a:pt x="4573" y="2344741"/>
                  </a:cubicBezTo>
                  <a:cubicBezTo>
                    <a:pt x="1645" y="2341813"/>
                    <a:pt x="0" y="2337842"/>
                    <a:pt x="0" y="2333701"/>
                  </a:cubicBezTo>
                  <a:lnTo>
                    <a:pt x="0" y="15613"/>
                  </a:lnTo>
                  <a:cubicBezTo>
                    <a:pt x="0" y="11472"/>
                    <a:pt x="1645" y="7501"/>
                    <a:pt x="4573" y="4573"/>
                  </a:cubicBezTo>
                  <a:cubicBezTo>
                    <a:pt x="7501" y="1645"/>
                    <a:pt x="11472" y="0"/>
                    <a:pt x="15613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T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440427" cy="23874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4258945"/>
            <a:ext cx="16230600" cy="1969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20"/>
              </a:lnSpc>
            </a:pPr>
            <a:r>
              <a:rPr lang="en-US" sz="8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ENS 492 Implementation: EfficientNet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13335" y="1388781"/>
            <a:ext cx="16861331" cy="5380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Objectives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Defined the core goal of optimizing deep learning models for high-performance inference on GPU-based systems.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Literature Analysis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Conducted a deep dive into existing research regarding GPU-accelerated inference and various neural network architectures.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Methodology Design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Established a systematic pipeline involving model selection, performance profiling, and iterative optimization steps.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Environment Setup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Configured the initial development platform on TRUBA to ensure access to necessary CUDA and Python libraries.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028700" y="6736256"/>
            <a:ext cx="7013816" cy="3550744"/>
          </a:xfrm>
          <a:custGeom>
            <a:avLst/>
            <a:gdLst/>
            <a:ahLst/>
            <a:cxnLst/>
            <a:rect l="l" t="t" r="r" b="b"/>
            <a:pathLst>
              <a:path w="7013816" h="3550744">
                <a:moveTo>
                  <a:pt x="0" y="0"/>
                </a:moveTo>
                <a:lnTo>
                  <a:pt x="7013816" y="0"/>
                </a:lnTo>
                <a:lnTo>
                  <a:pt x="7013816" y="3550744"/>
                </a:lnTo>
                <a:lnTo>
                  <a:pt x="0" y="35507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4" name="Freeform 4"/>
          <p:cNvSpPr/>
          <p:nvPr/>
        </p:nvSpPr>
        <p:spPr>
          <a:xfrm>
            <a:off x="11005631" y="6589518"/>
            <a:ext cx="6253669" cy="3697482"/>
          </a:xfrm>
          <a:custGeom>
            <a:avLst/>
            <a:gdLst/>
            <a:ahLst/>
            <a:cxnLst/>
            <a:rect l="l" t="t" r="r" b="b"/>
            <a:pathLst>
              <a:path w="6253669" h="3697482">
                <a:moveTo>
                  <a:pt x="0" y="0"/>
                </a:moveTo>
                <a:lnTo>
                  <a:pt x="6253669" y="0"/>
                </a:lnTo>
                <a:lnTo>
                  <a:pt x="6253669" y="3697482"/>
                </a:lnTo>
                <a:lnTo>
                  <a:pt x="0" y="36974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5" name="TextBox 5"/>
          <p:cNvSpPr txBox="1"/>
          <p:nvPr/>
        </p:nvSpPr>
        <p:spPr>
          <a:xfrm>
            <a:off x="2250876" y="190500"/>
            <a:ext cx="13786247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Foundations &amp; Literature Review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13335" y="1388781"/>
            <a:ext cx="16861331" cy="5380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Library Selection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Evaluated PyTorch, ONNX and TensorRT as the primary frameworks for building and deploying the inference pipeline.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Profiling Toolset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Integrated NVIDIA Nsight Systems and Nsight Compute to identify hardware bottlenecks and kernel execution times.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Initial Benchmarks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Performed baseline testing on standard convolutional models to establish a starting point for future speedup comparisons.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Hardware Evaluation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Assessed the compute capabilities of various NVIDIA GPUs available in the TRUBA cluster for heterogeneous testing.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028700" y="6387730"/>
            <a:ext cx="5378304" cy="3899270"/>
          </a:xfrm>
          <a:custGeom>
            <a:avLst/>
            <a:gdLst/>
            <a:ahLst/>
            <a:cxnLst/>
            <a:rect l="l" t="t" r="r" b="b"/>
            <a:pathLst>
              <a:path w="5378304" h="3899270">
                <a:moveTo>
                  <a:pt x="0" y="0"/>
                </a:moveTo>
                <a:lnTo>
                  <a:pt x="5378304" y="0"/>
                </a:lnTo>
                <a:lnTo>
                  <a:pt x="5378304" y="3899270"/>
                </a:lnTo>
                <a:lnTo>
                  <a:pt x="0" y="38992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4" name="Freeform 4"/>
          <p:cNvSpPr/>
          <p:nvPr/>
        </p:nvSpPr>
        <p:spPr>
          <a:xfrm>
            <a:off x="10396355" y="6503802"/>
            <a:ext cx="6862945" cy="3783198"/>
          </a:xfrm>
          <a:custGeom>
            <a:avLst/>
            <a:gdLst/>
            <a:ahLst/>
            <a:cxnLst/>
            <a:rect l="l" t="t" r="r" b="b"/>
            <a:pathLst>
              <a:path w="6862945" h="3783198">
                <a:moveTo>
                  <a:pt x="0" y="0"/>
                </a:moveTo>
                <a:lnTo>
                  <a:pt x="6862945" y="0"/>
                </a:lnTo>
                <a:lnTo>
                  <a:pt x="6862945" y="3783198"/>
                </a:lnTo>
                <a:lnTo>
                  <a:pt x="0" y="37831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5" name="TextBox 5"/>
          <p:cNvSpPr txBox="1"/>
          <p:nvPr/>
        </p:nvSpPr>
        <p:spPr>
          <a:xfrm>
            <a:off x="2566057" y="266700"/>
            <a:ext cx="13155885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Framework Selection &amp; Profiling Tools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336048" y="6429482"/>
            <a:ext cx="5923252" cy="3857518"/>
          </a:xfrm>
          <a:custGeom>
            <a:avLst/>
            <a:gdLst/>
            <a:ahLst/>
            <a:cxnLst/>
            <a:rect l="l" t="t" r="r" b="b"/>
            <a:pathLst>
              <a:path w="5923252" h="3857518">
                <a:moveTo>
                  <a:pt x="0" y="0"/>
                </a:moveTo>
                <a:lnTo>
                  <a:pt x="5923252" y="0"/>
                </a:lnTo>
                <a:lnTo>
                  <a:pt x="5923252" y="3857518"/>
                </a:lnTo>
                <a:lnTo>
                  <a:pt x="0" y="38575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3" name="Freeform 3"/>
          <p:cNvSpPr/>
          <p:nvPr/>
        </p:nvSpPr>
        <p:spPr>
          <a:xfrm>
            <a:off x="1028700" y="6598321"/>
            <a:ext cx="9215722" cy="3688679"/>
          </a:xfrm>
          <a:custGeom>
            <a:avLst/>
            <a:gdLst/>
            <a:ahLst/>
            <a:cxnLst/>
            <a:rect l="l" t="t" r="r" b="b"/>
            <a:pathLst>
              <a:path w="9215722" h="3688679">
                <a:moveTo>
                  <a:pt x="0" y="0"/>
                </a:moveTo>
                <a:lnTo>
                  <a:pt x="9215722" y="0"/>
                </a:lnTo>
                <a:lnTo>
                  <a:pt x="9215722" y="3688679"/>
                </a:lnTo>
                <a:lnTo>
                  <a:pt x="0" y="36886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5836"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4" name="TextBox 4"/>
          <p:cNvSpPr txBox="1"/>
          <p:nvPr/>
        </p:nvSpPr>
        <p:spPr>
          <a:xfrm>
            <a:off x="713335" y="1388781"/>
            <a:ext cx="16861331" cy="4780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System Configuration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Established a baseline using PyTorch and CUDA 12.0 on a Tesla V100 GPU within a SLURM-managed environment.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Performance Scaling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Tested batch sizes from 8 to 1024, achieving peak throughput of 3046.2 img/s before encountering memory limits.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Efficiency Analysis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Identified batch 16 as the most efficient setting at 353.1 img/ms for optimal edge/IoT performance.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Strategic Recommendations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Advised batch 16–32 for low-latency edge tasks and 64–128 for high-throughput server inference.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0035" y="262894"/>
            <a:ext cx="18207930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EfficientNet-B0 Benchmarking and Batch Optimization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13335" y="1388781"/>
            <a:ext cx="16861331" cy="7181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Inference Transition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Aimed to move from Python-based training to high-performance C++ inference using EfficientNet-B0 to maximize Images Per Second (IPS) on NVIDIA GPUs.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Optimization Pipeline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Established a four-step workflow involving model export to ONNX, engine building with TensorRT, and creating a C++ runtime for optimized memory management.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Technical Implementation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Successfully exported the model using the PyTorch timm library and compiled C++ binaries by manually resolving missing development headers and linker dependencies.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Week’s Progress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Validated GPU hardware access and code logic despite a runtime failure caused by library version mismatches between Conda and Pip environments on the cluster.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33835" y="190500"/>
            <a:ext cx="16220330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C++ Inference Transition and Environment Setup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563245" y="6558567"/>
            <a:ext cx="8696055" cy="3728433"/>
          </a:xfrm>
          <a:custGeom>
            <a:avLst/>
            <a:gdLst/>
            <a:ahLst/>
            <a:cxnLst/>
            <a:rect l="l" t="t" r="r" b="b"/>
            <a:pathLst>
              <a:path w="8696055" h="3728433">
                <a:moveTo>
                  <a:pt x="0" y="0"/>
                </a:moveTo>
                <a:lnTo>
                  <a:pt x="8696055" y="0"/>
                </a:lnTo>
                <a:lnTo>
                  <a:pt x="8696055" y="3728433"/>
                </a:lnTo>
                <a:lnTo>
                  <a:pt x="0" y="37284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3" name="TextBox 3"/>
          <p:cNvSpPr txBox="1"/>
          <p:nvPr/>
        </p:nvSpPr>
        <p:spPr>
          <a:xfrm>
            <a:off x="713335" y="1388781"/>
            <a:ext cx="16861331" cy="4780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Weekly Goal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Re-implement and optimize EfficientNet-B0 for high-performance inference, focusing on throughput and latency.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Benchmark Strategy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Prioritized latency-critical edge applications by fixing the batch size at 1, where CPU overhead typically dominates execution time.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Environmental Resolution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Resolved deep-seated library conflicts by deploying an Apptainer container to align OS, CUDA, and TensorRT versions.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Optimization Outcomes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Achieved 1,023 FPS and 0.97 ms latency using pinned memory and reusable buffers, extracting 84% of hardware's limit.</a:t>
            </a:r>
          </a:p>
        </p:txBody>
      </p:sp>
      <p:sp>
        <p:nvSpPr>
          <p:cNvPr id="4" name="Freeform 4"/>
          <p:cNvSpPr/>
          <p:nvPr/>
        </p:nvSpPr>
        <p:spPr>
          <a:xfrm>
            <a:off x="1028700" y="6558567"/>
            <a:ext cx="7291337" cy="3728433"/>
          </a:xfrm>
          <a:custGeom>
            <a:avLst/>
            <a:gdLst/>
            <a:ahLst/>
            <a:cxnLst/>
            <a:rect l="l" t="t" r="r" b="b"/>
            <a:pathLst>
              <a:path w="7291337" h="3728433">
                <a:moveTo>
                  <a:pt x="0" y="0"/>
                </a:moveTo>
                <a:lnTo>
                  <a:pt x="7291337" y="0"/>
                </a:lnTo>
                <a:lnTo>
                  <a:pt x="7291337" y="3728433"/>
                </a:lnTo>
                <a:lnTo>
                  <a:pt x="0" y="37284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49299"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5" name="TextBox 5"/>
          <p:cNvSpPr txBox="1"/>
          <p:nvPr/>
        </p:nvSpPr>
        <p:spPr>
          <a:xfrm>
            <a:off x="450875" y="307250"/>
            <a:ext cx="17386250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EfficientNet-B0 Optimization and C++ Benchmarking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13335" y="1388781"/>
            <a:ext cx="16861331" cy="4780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Layer Optimization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Shifted from timeline profiling to detailed kernel analysis using Nsight Compute to perform manual layer tuning.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Bottleneck Identification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Discovered that Depthwise Separable Convolutions and Swish activations are the primary performance limiters.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Performance Speedup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Achieved a 1.85x speedup per layer, reducing latency by 45% with custom kernels (0.0047 ms) versus native TensorRT (0.0087 ms).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Technical Progress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Developed custom CUDA kernels in C++ to replace suboptimal layers and improve memory bandwidth.</a:t>
            </a:r>
          </a:p>
        </p:txBody>
      </p:sp>
      <p:sp>
        <p:nvSpPr>
          <p:cNvPr id="3" name="Freeform 3"/>
          <p:cNvSpPr/>
          <p:nvPr/>
        </p:nvSpPr>
        <p:spPr>
          <a:xfrm>
            <a:off x="3493371" y="7546445"/>
            <a:ext cx="11301259" cy="2740555"/>
          </a:xfrm>
          <a:custGeom>
            <a:avLst/>
            <a:gdLst/>
            <a:ahLst/>
            <a:cxnLst/>
            <a:rect l="l" t="t" r="r" b="b"/>
            <a:pathLst>
              <a:path w="11301259" h="2740555">
                <a:moveTo>
                  <a:pt x="0" y="0"/>
                </a:moveTo>
                <a:lnTo>
                  <a:pt x="11301258" y="0"/>
                </a:lnTo>
                <a:lnTo>
                  <a:pt x="11301258" y="2740555"/>
                </a:lnTo>
                <a:lnTo>
                  <a:pt x="0" y="27405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4" name="Freeform 4"/>
          <p:cNvSpPr/>
          <p:nvPr/>
        </p:nvSpPr>
        <p:spPr>
          <a:xfrm>
            <a:off x="0" y="6629470"/>
            <a:ext cx="18288000" cy="457200"/>
          </a:xfrm>
          <a:custGeom>
            <a:avLst/>
            <a:gdLst/>
            <a:ahLst/>
            <a:cxnLst/>
            <a:rect l="l" t="t" r="r" b="b"/>
            <a:pathLst>
              <a:path w="18288000" h="457200">
                <a:moveTo>
                  <a:pt x="0" y="0"/>
                </a:moveTo>
                <a:lnTo>
                  <a:pt x="18288000" y="0"/>
                </a:lnTo>
                <a:lnTo>
                  <a:pt x="182880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5" name="TextBox 5"/>
          <p:cNvSpPr txBox="1"/>
          <p:nvPr/>
        </p:nvSpPr>
        <p:spPr>
          <a:xfrm>
            <a:off x="1157957" y="271798"/>
            <a:ext cx="15972086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Kernel Profiling and Custom CUDA Development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6826873"/>
            <a:ext cx="6920255" cy="3460127"/>
          </a:xfrm>
          <a:custGeom>
            <a:avLst/>
            <a:gdLst/>
            <a:ahLst/>
            <a:cxnLst/>
            <a:rect l="l" t="t" r="r" b="b"/>
            <a:pathLst>
              <a:path w="6920255" h="3460127">
                <a:moveTo>
                  <a:pt x="0" y="0"/>
                </a:moveTo>
                <a:lnTo>
                  <a:pt x="6920255" y="0"/>
                </a:lnTo>
                <a:lnTo>
                  <a:pt x="6920255" y="3460127"/>
                </a:lnTo>
                <a:lnTo>
                  <a:pt x="0" y="34601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3" name="Freeform 3"/>
          <p:cNvSpPr/>
          <p:nvPr/>
        </p:nvSpPr>
        <p:spPr>
          <a:xfrm>
            <a:off x="10031049" y="6826873"/>
            <a:ext cx="7228251" cy="3460127"/>
          </a:xfrm>
          <a:custGeom>
            <a:avLst/>
            <a:gdLst/>
            <a:ahLst/>
            <a:cxnLst/>
            <a:rect l="l" t="t" r="r" b="b"/>
            <a:pathLst>
              <a:path w="7228251" h="3460127">
                <a:moveTo>
                  <a:pt x="0" y="0"/>
                </a:moveTo>
                <a:lnTo>
                  <a:pt x="7228251" y="0"/>
                </a:lnTo>
                <a:lnTo>
                  <a:pt x="7228251" y="3460127"/>
                </a:lnTo>
                <a:lnTo>
                  <a:pt x="0" y="34601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3875" b="-24444"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4" name="TextBox 4"/>
          <p:cNvSpPr txBox="1"/>
          <p:nvPr/>
        </p:nvSpPr>
        <p:spPr>
          <a:xfrm>
            <a:off x="713335" y="1388781"/>
            <a:ext cx="16861331" cy="4780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Integration Challenge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Overcame the "Black Box" issue where TensorRT defaults to slow, separate layers for Swish instead of fused kernels.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Graph Surgery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Implemented a four-step process to programmatically detect "Sigmoid + Multiply" patterns and implant custom SwishPlugin nodes.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Verification Success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Confirmed active plugin status via trtexec profiling on an NVIDIA Tesla P100, ensuring high-performance execution.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Benchmark Results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Achieved a ~65-67% speedup by reducing swish kernel memory transactions from six to two per pixel, reaching 29,852 FPS.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846673" y="342900"/>
            <a:ext cx="12594654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Kernel Integration &amp; The “Perfect Run”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6353031"/>
            <a:ext cx="7056447" cy="3933969"/>
          </a:xfrm>
          <a:custGeom>
            <a:avLst/>
            <a:gdLst/>
            <a:ahLst/>
            <a:cxnLst/>
            <a:rect l="l" t="t" r="r" b="b"/>
            <a:pathLst>
              <a:path w="7056447" h="3933969">
                <a:moveTo>
                  <a:pt x="0" y="0"/>
                </a:moveTo>
                <a:lnTo>
                  <a:pt x="7056447" y="0"/>
                </a:lnTo>
                <a:lnTo>
                  <a:pt x="7056447" y="3933969"/>
                </a:lnTo>
                <a:lnTo>
                  <a:pt x="0" y="39339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3" name="Freeform 3"/>
          <p:cNvSpPr/>
          <p:nvPr/>
        </p:nvSpPr>
        <p:spPr>
          <a:xfrm>
            <a:off x="10202853" y="6353031"/>
            <a:ext cx="7056447" cy="3933969"/>
          </a:xfrm>
          <a:custGeom>
            <a:avLst/>
            <a:gdLst/>
            <a:ahLst/>
            <a:cxnLst/>
            <a:rect l="l" t="t" r="r" b="b"/>
            <a:pathLst>
              <a:path w="7056447" h="3933969">
                <a:moveTo>
                  <a:pt x="0" y="0"/>
                </a:moveTo>
                <a:lnTo>
                  <a:pt x="7056447" y="0"/>
                </a:lnTo>
                <a:lnTo>
                  <a:pt x="7056447" y="3933969"/>
                </a:lnTo>
                <a:lnTo>
                  <a:pt x="0" y="39339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4" name="TextBox 4"/>
          <p:cNvSpPr txBox="1"/>
          <p:nvPr/>
        </p:nvSpPr>
        <p:spPr>
          <a:xfrm>
            <a:off x="713335" y="1388781"/>
            <a:ext cx="16861331" cy="4780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Pipeline Standardization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Developed a universal FP16 benchmarking script using 1,000 iterations to eliminate noise.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Vision Optimization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Reached 1,080 FPS on V100 via Tensor Cores, a 6.6x gain over baseline.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Transformer Throughput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Secured a 4.5x gain for GPT-2 on V100 by shifting to TensorRT (C++).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Deployment Insights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Validated P100 for basic video analytics, while V100 is mandatory for real-time LLMs.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60649" y="318351"/>
            <a:ext cx="15166702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Legacy vs. Modern GPU Architecture Analysis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7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14127" y="683475"/>
            <a:ext cx="16859746" cy="8920050"/>
            <a:chOff x="0" y="0"/>
            <a:chExt cx="4440427" cy="23493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40427" cy="2349314"/>
            </a:xfrm>
            <a:custGeom>
              <a:avLst/>
              <a:gdLst/>
              <a:ahLst/>
              <a:cxnLst/>
              <a:rect l="l" t="t" r="r" b="b"/>
              <a:pathLst>
                <a:path w="4440427" h="2349314">
                  <a:moveTo>
                    <a:pt x="15613" y="0"/>
                  </a:moveTo>
                  <a:lnTo>
                    <a:pt x="4424814" y="0"/>
                  </a:lnTo>
                  <a:cubicBezTo>
                    <a:pt x="4428955" y="0"/>
                    <a:pt x="4432926" y="1645"/>
                    <a:pt x="4435854" y="4573"/>
                  </a:cubicBezTo>
                  <a:cubicBezTo>
                    <a:pt x="4438782" y="7501"/>
                    <a:pt x="4440427" y="11472"/>
                    <a:pt x="4440427" y="15613"/>
                  </a:cubicBezTo>
                  <a:lnTo>
                    <a:pt x="4440427" y="2333701"/>
                  </a:lnTo>
                  <a:cubicBezTo>
                    <a:pt x="4440427" y="2337842"/>
                    <a:pt x="4438782" y="2341813"/>
                    <a:pt x="4435854" y="2344741"/>
                  </a:cubicBezTo>
                  <a:cubicBezTo>
                    <a:pt x="4432926" y="2347669"/>
                    <a:pt x="4428955" y="2349314"/>
                    <a:pt x="4424814" y="2349314"/>
                  </a:cubicBezTo>
                  <a:lnTo>
                    <a:pt x="15613" y="2349314"/>
                  </a:lnTo>
                  <a:cubicBezTo>
                    <a:pt x="11472" y="2349314"/>
                    <a:pt x="7501" y="2347669"/>
                    <a:pt x="4573" y="2344741"/>
                  </a:cubicBezTo>
                  <a:cubicBezTo>
                    <a:pt x="1645" y="2341813"/>
                    <a:pt x="0" y="2337842"/>
                    <a:pt x="0" y="2333701"/>
                  </a:cubicBezTo>
                  <a:lnTo>
                    <a:pt x="0" y="15613"/>
                  </a:lnTo>
                  <a:cubicBezTo>
                    <a:pt x="0" y="11472"/>
                    <a:pt x="1645" y="7501"/>
                    <a:pt x="4573" y="4573"/>
                  </a:cubicBezTo>
                  <a:cubicBezTo>
                    <a:pt x="7501" y="1645"/>
                    <a:pt x="11472" y="0"/>
                    <a:pt x="15613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T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440427" cy="23874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3900255"/>
            <a:ext cx="16230600" cy="2772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88"/>
              </a:lnSpc>
            </a:pPr>
            <a:r>
              <a:rPr lang="en-US" sz="1126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you!</a:t>
            </a:r>
          </a:p>
          <a:p>
            <a:pPr algn="ctr">
              <a:lnSpc>
                <a:spcPts val="10588"/>
              </a:lnSpc>
            </a:pPr>
            <a:endParaRPr lang="en-US" sz="11264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1851</Words>
  <Application>Microsoft Macintosh PowerPoint</Application>
  <PresentationFormat>Custom</PresentationFormat>
  <Paragraphs>119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Canva Sans</vt:lpstr>
      <vt:lpstr>Canva Sans Bold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ENS491/92-Group219-Final-Presentation</dc:title>
  <cp:lastModifiedBy>Enes Çağlar (Student)</cp:lastModifiedBy>
  <cp:revision>19</cp:revision>
  <dcterms:created xsi:type="dcterms:W3CDTF">2006-08-16T00:00:00Z</dcterms:created>
  <dcterms:modified xsi:type="dcterms:W3CDTF">2026-01-11T12:04:00Z</dcterms:modified>
  <dc:identifier>DAG98IEHDcE</dc:identifier>
</cp:coreProperties>
</file>